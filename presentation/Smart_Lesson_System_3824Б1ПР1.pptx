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Default Extension="bmp" ContentType="image/bmp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2.xml" ContentType="application/vnd.openxmlformats-officedocument.them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71" r:id="rId11"/>
    <p:sldId id="269" r:id="rId12"/>
    <p:sldId id="270" r:id="rId13"/>
    <p:sldId id="264" r:id="rId14"/>
    <p:sldId id="266" r:id="rId15"/>
    <p:sldId id="267" r:id="rId16"/>
    <p:sldId id="263" r:id="rId17"/>
    <p:sldId id="268" r:id="rId18"/>
    <p:sldId id="273" r:id="rId19"/>
    <p:sldId id="26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DC598-30FF-4D65-A5D8-DD076139D23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0A795-EE21-45C6-A73E-3980C975F9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D5FF5B3-023C-43A3-9FCC-EA9A729B66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A45E2E-B163-4D0E-9BBA-DD859E71D7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ru-RU" altLang="en-US"/>
              <a:t>Щелкните для изменения стиля основного подзаголовка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ние и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контен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текста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6" name="Заполнитель контента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7" name="Заполнитель даты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Заполнитель нижнего колонтитула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9" name="Заполнитель номера слайда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Заполнитель нижнего колонтитула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полнитель номера слайда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Заполнитель нижнего колонтитула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Контен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изображения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текст по вертик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Название по вертикал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названия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bm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bm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bm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bm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bm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25514" y="1691336"/>
            <a:ext cx="5394896" cy="5394897"/>
          </a:xfrm>
          <a:prstGeom prst="rect">
            <a:avLst/>
          </a:prstGeom>
        </p:spPr>
      </p:pic>
      <p:sp>
        <p:nvSpPr>
          <p:cNvPr id="6" name="Текст. поле 5"/>
          <p:cNvSpPr txBox="1"/>
          <p:nvPr/>
        </p:nvSpPr>
        <p:spPr>
          <a:xfrm>
            <a:off x="1324902" y="4225480"/>
            <a:ext cx="3952608" cy="229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Выполнили студенты группы</a:t>
            </a: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3824</a:t>
            </a: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Б1ПР1</a:t>
            </a:r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pPr algn="l"/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Казанцев Михаил</a:t>
            </a:r>
          </a:p>
          <a:p>
            <a:pPr algn="l"/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Русановский Никита</a:t>
            </a:r>
          </a:p>
          <a:p>
            <a:pPr algn="l"/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Серова Екатерина</a:t>
            </a:r>
          </a:p>
          <a:p>
            <a:pPr algn="l"/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Симонов Максим</a:t>
            </a:r>
          </a:p>
          <a:p>
            <a:pPr algn="l"/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Стрельченко Софья</a:t>
            </a:r>
          </a:p>
          <a:p>
            <a:pPr algn="l"/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7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Текст. поле 3"/>
          <p:cNvSpPr txBox="1"/>
          <p:nvPr/>
        </p:nvSpPr>
        <p:spPr>
          <a:xfrm>
            <a:off x="1324902" y="624409"/>
            <a:ext cx="7554085" cy="3129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6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Система</a:t>
            </a:r>
            <a:r>
              <a:rPr lang="en-US" altLang="en-US" sz="6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</a:t>
            </a:r>
            <a:r>
              <a:rPr lang="ru-RU" altLang="en-US" sz="6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класса с умными ручками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5"/>
          <p:cNvSpPr txBox="1"/>
          <p:nvPr/>
        </p:nvSpPr>
        <p:spPr>
          <a:xfrm>
            <a:off x="847076" y="1154765"/>
            <a:ext cx="6886960" cy="4611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Цель проекта</a:t>
            </a:r>
            <a:r>
              <a:rPr lang="ru-RU" sz="28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- разработка прототипа автономной системы сбора, локального хранения и беспроводной передачи графических данных письма с использованием 30 умных ручек, док-станции, шлюза (ноутбук учителя) и сервера для последующего анализа успеваемости учеников школы.</a:t>
            </a:r>
            <a:endParaRPr lang="en-US" sz="28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00744" y="1404591"/>
            <a:ext cx="4239462" cy="4239462"/>
          </a:xfrm>
          <a:prstGeom prst="rect">
            <a:avLst/>
          </a:prstGeom>
        </p:spPr>
      </p:pic>
      <p:sp>
        <p:nvSpPr>
          <p:cNvPr id="10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5"/>
          <p:cNvSpPr txBox="1"/>
          <p:nvPr/>
        </p:nvSpPr>
        <p:spPr>
          <a:xfrm>
            <a:off x="903179" y="647970"/>
            <a:ext cx="4946664" cy="1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Актуальность</a:t>
            </a:r>
          </a:p>
          <a:p>
            <a:pPr algn="l"/>
            <a:endParaRPr lang="en-US" sz="44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Текст. поле 2"/>
          <p:cNvSpPr txBox="1"/>
          <p:nvPr/>
        </p:nvSpPr>
        <p:spPr>
          <a:xfrm>
            <a:off x="1184449" y="1963928"/>
            <a:ext cx="9823103" cy="421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1. </a:t>
            </a:r>
            <a:r>
              <a:rPr lang="en-US" sz="2400" b="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Цифровизация образования без потери тактильного опыта</a:t>
            </a:r>
          </a:p>
          <a:p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 эпоху тотального перехода на планшеты и ноутбуки в школах теряется навык письма от руки, который напрямую связан с развитием мелкой моторики, памяти и когнитивных способностей. Предлагаемая система позволяет сохранить традиционное письмо, но с добавлением цифрового сбора данных — учитель получает аналитику, а ученик пишет обычной ручкой.</a:t>
            </a:r>
          </a:p>
          <a:p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r>
              <a:rPr lang="ru-RU" sz="2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2. Автоматизация сбора и проверки письменных работ</a:t>
            </a:r>
          </a:p>
          <a:p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Система автоматически собирает данные со всех 30 ручек одновременно,сохраняет их в структурированном виде и позволяет просмотреть траекторию письма каждой работы. Тем самым снижается нагрузка на учителя.</a:t>
            </a:r>
          </a:p>
          <a:p>
            <a:endParaRPr lang="ru-RU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4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1"/>
          <p:cNvSpPr txBox="1"/>
          <p:nvPr/>
        </p:nvSpPr>
        <p:spPr>
          <a:xfrm>
            <a:off x="1160555" y="562221"/>
            <a:ext cx="10150347" cy="775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Современные умные ручки</a:t>
            </a:r>
            <a:endParaRPr lang="en-US" sz="44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7" name="Текст. поле 3"/>
          <p:cNvSpPr txBox="1"/>
          <p:nvPr/>
        </p:nvSpPr>
        <p:spPr>
          <a:xfrm>
            <a:off x="1160556" y="2346919"/>
            <a:ext cx="3844051" cy="2840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Умные ручки уже выпускаются на рынке. Причем для них не нужна «умная» тетрадь: достаточно специальной разметки на бумаге для более легкого считывания координат положения ручки.</a:t>
            </a:r>
            <a:endParaRPr lang="ru-RU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pic>
        <p:nvPicPr>
          <p:cNvPr id="8" name="Изображение 6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700716" y="1750369"/>
            <a:ext cx="4869324" cy="4730984"/>
          </a:xfrm>
          <a:prstGeom prst="rect">
            <a:avLst/>
          </a:prstGeom>
        </p:spPr>
      </p:pic>
      <p:sp>
        <p:nvSpPr>
          <p:cNvPr id="5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Текст. поле 1"/>
          <p:cNvSpPr txBox="1"/>
          <p:nvPr/>
        </p:nvSpPr>
        <p:spPr>
          <a:xfrm>
            <a:off x="1085986" y="575573"/>
            <a:ext cx="6791030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Техническая реализация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Текст. поле 1"/>
          <p:cNvSpPr txBox="1"/>
          <p:nvPr/>
        </p:nvSpPr>
        <p:spPr>
          <a:xfrm>
            <a:off x="803991" y="2483151"/>
            <a:ext cx="6791030" cy="526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Frontend</a:t>
            </a:r>
          </a:p>
        </p:txBody>
      </p:sp>
      <p:sp>
        <p:nvSpPr>
          <p:cNvPr id="4" name="Текст. поле 1"/>
          <p:cNvSpPr txBox="1"/>
          <p:nvPr/>
        </p:nvSpPr>
        <p:spPr>
          <a:xfrm>
            <a:off x="7595021" y="2483151"/>
            <a:ext cx="6791030" cy="526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Smart pen and Station</a:t>
            </a:r>
          </a:p>
        </p:txBody>
      </p:sp>
      <p:sp>
        <p:nvSpPr>
          <p:cNvPr id="5" name="Текст. поле 1"/>
          <p:cNvSpPr txBox="1"/>
          <p:nvPr/>
        </p:nvSpPr>
        <p:spPr>
          <a:xfrm>
            <a:off x="5400970" y="2483151"/>
            <a:ext cx="6791030" cy="526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Database</a:t>
            </a:r>
          </a:p>
        </p:txBody>
      </p:sp>
      <p:sp>
        <p:nvSpPr>
          <p:cNvPr id="6" name="Текст. поле 1"/>
          <p:cNvSpPr txBox="1"/>
          <p:nvPr/>
        </p:nvSpPr>
        <p:spPr>
          <a:xfrm>
            <a:off x="3187006" y="2483151"/>
            <a:ext cx="6791030" cy="526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Backend</a:t>
            </a:r>
          </a:p>
        </p:txBody>
      </p:sp>
      <p:sp>
        <p:nvSpPr>
          <p:cNvPr id="7" name="Текст. поле 6"/>
          <p:cNvSpPr txBox="1"/>
          <p:nvPr/>
        </p:nvSpPr>
        <p:spPr>
          <a:xfrm>
            <a:off x="7445882" y="3284201"/>
            <a:ext cx="4378694" cy="284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м</a:t>
            </a: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икроконтроллер со втроенным </a:t>
            </a: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Bluetooth </a:t>
            </a: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модулем </a:t>
            </a: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(nRF52)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модуль NFC	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датчик нажатия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датчик движения ручки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память - внешняя FRAM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светодиод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док станция, в которой 30 разъемов с системой Pogo-pin</a:t>
            </a:r>
          </a:p>
        </p:txBody>
      </p:sp>
      <p:sp>
        <p:nvSpPr>
          <p:cNvPr id="8" name="Текст. поле 6"/>
          <p:cNvSpPr txBox="1"/>
          <p:nvPr/>
        </p:nvSpPr>
        <p:spPr>
          <a:xfrm>
            <a:off x="589880" y="3284201"/>
            <a:ext cx="4378694" cy="645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HTML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Photoshop</a:t>
            </a:r>
          </a:p>
        </p:txBody>
      </p:sp>
      <p:sp>
        <p:nvSpPr>
          <p:cNvPr id="9" name="Текст. поле 6"/>
          <p:cNvSpPr txBox="1"/>
          <p:nvPr/>
        </p:nvSpPr>
        <p:spPr>
          <a:xfrm>
            <a:off x="2514967" y="3284201"/>
            <a:ext cx="2602746" cy="284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Golang</a:t>
            </a:r>
            <a:endParaRPr lang="ru-RU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PostgreSQL</a:t>
            </a:r>
            <a:endParaRPr lang="ru-RU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gin-gonic</a:t>
            </a: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</a:t>
            </a: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(library)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godotenv (library)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Docker</a:t>
            </a:r>
          </a:p>
          <a:p>
            <a:pPr marL="0" indent="0">
              <a:buFont typeface="Arial" pitchFamily="34" charset="0" panose="020B0604020202020204"/>
              <a:buNone/>
            </a:pPr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Miro (</a:t>
            </a: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моделирование БД)</a:t>
            </a:r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pPr marL="285750" indent="-285750">
              <a:buFont typeface="Arial" pitchFamily="34" charset="0" panose="020B0604020202020204"/>
              <a:buChar char="•"/>
            </a:pPr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1"/>
          <a:srcRect t="29933" r="63214" b="31800"/>
          <a:stretch/>
        </p:blipFill>
        <p:spPr>
          <a:xfrm>
            <a:off x="1009167" y="1289082"/>
            <a:ext cx="1283122" cy="1351849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2"/>
          <a:srcRect l="64748" t="31833" r="2815" b="30927"/>
          <a:stretch/>
        </p:blipFill>
        <p:spPr>
          <a:xfrm>
            <a:off x="5580331" y="1323492"/>
            <a:ext cx="1239522" cy="1423103"/>
          </a:xfrm>
          <a:prstGeom prst="rect">
            <a:avLst/>
          </a:prstGeom>
        </p:spPr>
      </p:pic>
      <p:pic>
        <p:nvPicPr>
          <p:cNvPr id="14" name="Изображение 12"/>
          <p:cNvPicPr>
            <a:picLocks noChangeAspect="1"/>
          </p:cNvPicPr>
          <p:nvPr/>
        </p:nvPicPr>
        <p:blipFill>
          <a:blip r:embed="rId1"/>
          <a:srcRect l="33136" t="30533" r="36027" b="33206"/>
          <a:stretch/>
        </p:blipFill>
        <p:spPr>
          <a:xfrm>
            <a:off x="3316549" y="1183418"/>
            <a:ext cx="1239522" cy="1457513"/>
          </a:xfrm>
          <a:prstGeom prst="rect">
            <a:avLst/>
          </a:prstGeom>
        </p:spPr>
      </p:pic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987237" y="1237531"/>
            <a:ext cx="1509064" cy="1509064"/>
          </a:xfrm>
          <a:prstGeom prst="rect">
            <a:avLst/>
          </a:prstGeom>
        </p:spPr>
      </p:pic>
      <p:sp>
        <p:nvSpPr>
          <p:cNvPr id="17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Текст. поле 18"/>
          <p:cNvSpPr txBox="1"/>
          <p:nvPr/>
        </p:nvSpPr>
        <p:spPr>
          <a:xfrm>
            <a:off x="5280404" y="3284201"/>
            <a:ext cx="2002787" cy="1742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две БД (</a:t>
            </a:r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PostgreSQL) </a:t>
            </a:r>
            <a:r>
              <a:rPr lang="ru-RU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для приложения учителя и сервера</a:t>
            </a:r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Текст. поле 1"/>
          <p:cNvSpPr txBox="1"/>
          <p:nvPr/>
        </p:nvSpPr>
        <p:spPr>
          <a:xfrm>
            <a:off x="1141913" y="441256"/>
            <a:ext cx="10150347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Краткое описание работы системы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Текст. поле 2"/>
          <p:cNvSpPr txBox="1"/>
          <p:nvPr/>
        </p:nvSpPr>
        <p:spPr>
          <a:xfrm>
            <a:off x="329930" y="1154765"/>
            <a:ext cx="11774314" cy="1071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Arial" pitchFamily="34" charset="0" panose="020B0604020202020204"/>
              <a:buNone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Система состоит из трёх основных частей: 30 умных ручек, док-станции (только зарядка), приложения-шлюза (ноутбук учителя) и сервера с сайтом.</a:t>
            </a:r>
          </a:p>
          <a:p>
            <a:endParaRPr lang="ru-RU" sz="16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endParaRPr lang="en-US" sz="16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5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Текст. поле 3"/>
          <p:cNvSpPr txBox="1"/>
          <p:nvPr/>
        </p:nvSpPr>
        <p:spPr>
          <a:xfrm>
            <a:off x="269503" y="1690659"/>
            <a:ext cx="11922497" cy="52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1. Начало урока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ченик берёт любую ручку из док-станции.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односит к ручке свой NFC-пропуск → ручка </a:t>
            </a:r>
            <a:r>
              <a:rPr lang="ru-RU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запоминает </a:t>
            </a:r>
            <a:r>
              <a:rPr lang="en-US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id 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ученика.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ветодиод на ручке мигает (подтверждение).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учка начинает запись данных.</a:t>
            </a:r>
          </a:p>
          <a:p>
            <a:r>
              <a:rPr lang="en-US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2. Во время урока</a:t>
            </a:r>
          </a:p>
          <a:p>
            <a:r>
              <a:rPr 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учка делает </a:t>
            </a:r>
            <a:r>
              <a:rPr lang="ru-RU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около 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60 замеров в секунду: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изменение координаты X (относительно предыдущей точки)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изменение координаты Y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степень нажатия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Каждый замер — 3 байта (8 бит × 3).</a:t>
            </a: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Итог: ~422 Кб за урок. </a:t>
            </a:r>
            <a:r>
              <a:rPr lang="ru-RU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Во время работы данные пишутся непосредственно во внутреннюю память микроконтроллера. </a:t>
            </a: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Если она заполняется, то данные перезаписываютсяна внешний накопитель и освобождают внутреннюю память для нового цикла записи. 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Bluetooth выключен — ручка не передаёт данные во время письма.</a:t>
            </a:r>
          </a:p>
          <a:p>
            <a:r>
              <a:rPr lang="en-US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3. Конец урока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ченик ставит ручку в док-станцию.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учка ждёт случайную задержку 0–3 секунды (чтобы не создавать коллизий).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з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атем включает Bluetooth и начинает передачу данных на ноутбук учителя (шлюз).</a:t>
            </a:r>
            <a:r>
              <a:rPr lang="ru-RU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По нашим подсчетам такая передача занимает от 3 до 6 секунд на одну ручку.</a:t>
            </a:r>
            <a:endParaRPr lang="en-US" sz="16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endParaRPr 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. поле 1"/>
          <p:cNvSpPr txBox="1"/>
          <p:nvPr/>
        </p:nvSpPr>
        <p:spPr>
          <a:xfrm>
            <a:off x="1085986" y="575573"/>
            <a:ext cx="10150347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Краткое описание работы системы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4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1"/>
          <p:cNvSpPr txBox="1"/>
          <p:nvPr/>
        </p:nvSpPr>
        <p:spPr>
          <a:xfrm>
            <a:off x="1085986" y="1601205"/>
            <a:ext cx="9943858" cy="4668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4. Приём данных на шлюзе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Шлюз (ноутбук учителя с приложением на Go) работает в пакетном режиме с очередью.</a:t>
            </a:r>
            <a:r>
              <a:rPr lang="ru-RU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Получает данные от ручек по BLE.</a:t>
            </a:r>
            <a:r>
              <a:rPr lang="ru-RU" alt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После успешного получения подтверждает ручке → ручка чистит свою память и начинает заряжаться.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Приложение временно сохраняет работы во встроенную БД (PostgreSQL) с таблицами work и lesson.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Учитель видит на экране список учеников и статус загрузки их работ (0% → 100%).</a:t>
            </a:r>
          </a:p>
          <a:p>
            <a:r>
              <a:rPr lang="en-US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5. Отправка на сервер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Учитель нажимает кнопку «Отправить на сервер».Приложение шлюза отправляет HTTP-запрос с JSON на сервер.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Сервер (Go + PostgreSQL) принимает данные и сохраняет в основную БД.</a:t>
            </a:r>
          </a:p>
          <a:p>
            <a:r>
              <a:rPr lang="en-US" sz="2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6. Работа с сервером и сайтом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На сайте (фронт) учитель авторизуется.</a:t>
            </a:r>
          </a:p>
          <a:p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Видит: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писок уроков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писок сданных работ по каждому уроку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ru-RU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</a:t>
            </a:r>
            <a:r>
              <a:rPr lang="en-US" sz="16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изуализацию работы (график/рисунок по координатам X, Y)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endParaRPr lang="en-US" sz="16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1"/>
          <p:cNvSpPr txBox="1"/>
          <p:nvPr/>
        </p:nvSpPr>
        <p:spPr>
          <a:xfrm>
            <a:off x="1028066" y="676931"/>
            <a:ext cx="7500542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Реализация</a:t>
            </a:r>
            <a:r>
              <a:rPr lang="en-US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(</a:t>
            </a:r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приложение)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61315" y="1308124"/>
            <a:ext cx="8528747" cy="5130873"/>
          </a:xfrm>
          <a:prstGeom prst="rect">
            <a:avLst/>
          </a:prstGeom>
        </p:spPr>
      </p:pic>
      <p:sp>
        <p:nvSpPr>
          <p:cNvPr id="4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1"/>
          <p:cNvSpPr txBox="1"/>
          <p:nvPr/>
        </p:nvSpPr>
        <p:spPr>
          <a:xfrm>
            <a:off x="1028067" y="593041"/>
            <a:ext cx="9728285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База данных приложения учителя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92484" y="1744525"/>
            <a:ext cx="7361356" cy="44874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1"/>
          <p:cNvSpPr txBox="1"/>
          <p:nvPr/>
        </p:nvSpPr>
        <p:spPr>
          <a:xfrm>
            <a:off x="1028066" y="676931"/>
            <a:ext cx="7500542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Реализация</a:t>
            </a:r>
            <a:r>
              <a:rPr lang="en-US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(</a:t>
            </a:r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сервер)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77798" y="1558492"/>
            <a:ext cx="8528807" cy="4760265"/>
          </a:xfrm>
          <a:prstGeom prst="rect">
            <a:avLst/>
          </a:prstGeom>
        </p:spPr>
      </p:pic>
      <p:sp>
        <p:nvSpPr>
          <p:cNvPr id="4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1"/>
          <p:cNvSpPr txBox="1"/>
          <p:nvPr/>
        </p:nvSpPr>
        <p:spPr>
          <a:xfrm>
            <a:off x="1324902" y="332050"/>
            <a:ext cx="7500542" cy="7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База данных для сервера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sp>
        <p:nvSpPr>
          <p:cNvPr id="3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85382" y="1154765"/>
            <a:ext cx="8406758" cy="54075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948428" y="691411"/>
            <a:ext cx="10295145" cy="1323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Прототип сайта (отображение</a:t>
            </a:r>
            <a:r>
              <a:rPr lang="en-US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 </a:t>
            </a:r>
            <a:r>
              <a:rPr lang="ru-RU" sz="40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работы сервера и сохранения данных урока) </a:t>
            </a:r>
            <a:endParaRPr lang="en-US" sz="40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42865" y="2202757"/>
            <a:ext cx="7906271" cy="4345792"/>
          </a:xfrm>
          <a:prstGeom prst="rect">
            <a:avLst/>
          </a:prstGeom>
        </p:spPr>
      </p:pic>
      <p:sp>
        <p:nvSpPr>
          <p:cNvPr id="5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0467" y="271914"/>
            <a:ext cx="11531065" cy="63141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0783" y="117909"/>
            <a:ext cx="11290434" cy="66221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21378" y="347030"/>
            <a:ext cx="9749244" cy="6322732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6792" y="4323408"/>
            <a:ext cx="6437190" cy="15827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2085" y="500115"/>
            <a:ext cx="11947830" cy="58577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. поле 1"/>
          <p:cNvSpPr txBox="1"/>
          <p:nvPr/>
        </p:nvSpPr>
        <p:spPr>
          <a:xfrm>
            <a:off x="1028066" y="686252"/>
            <a:ext cx="10110450" cy="775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Возможные перспективы проекта</a:t>
            </a:r>
          </a:p>
        </p:txBody>
      </p:sp>
      <p:sp>
        <p:nvSpPr>
          <p:cNvPr id="5" name="Текст. поле 3"/>
          <p:cNvSpPr txBox="1"/>
          <p:nvPr/>
        </p:nvSpPr>
        <p:spPr>
          <a:xfrm>
            <a:off x="1028066" y="2226677"/>
            <a:ext cx="7176258" cy="3846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1.</a:t>
            </a:r>
            <a:r>
              <a:rPr lang="ru-RU" altLang="en-US" sz="2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Автоматизация проверки работ</a:t>
            </a:r>
          </a:p>
          <a:p>
            <a:r>
              <a:rPr lang="ru-RU" alt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Искусственный интеллект развивается всё больше, поэтому вполне вероятно, что в недалеком будущем он сможет без труда распознавать любой детский почерк. И хотя было бы опрометчиво полностью доверять проверку работ машине, с проверкой тестов искусственный интеллект мог бы сильно помочь.</a:t>
            </a:r>
          </a:p>
          <a:p>
            <a:endParaRPr lang="ru-RU" altLang="en-US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  <a:p>
            <a:r>
              <a:rPr lang="en-US" altLang="en-US" sz="2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2.</a:t>
            </a:r>
            <a:r>
              <a:rPr lang="ru-RU" altLang="en-US" sz="24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Улучшение эргономичности</a:t>
            </a:r>
          </a:p>
          <a:p>
            <a:r>
              <a:rPr lang="ru-RU" altLang="en-US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С развитием микроэлектроники в будущем можно будет добиться лучшей эргономичности ручки, вплоть до того, что она будет мало чем отличаться от обычной шариковой.</a:t>
            </a:r>
          </a:p>
        </p:txBody>
      </p:sp>
      <p:sp>
        <p:nvSpPr>
          <p:cNvPr id="6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3427" y="2405038"/>
            <a:ext cx="2816707" cy="27808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. поле 1"/>
          <p:cNvSpPr txBox="1"/>
          <p:nvPr/>
        </p:nvSpPr>
        <p:spPr>
          <a:xfrm>
            <a:off x="745711" y="1661559"/>
            <a:ext cx="6182222" cy="3405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>
                <a:solidFill>
                  <a:srgbClr val="3D2B13"/>
                </a:solidFill>
                <a:latin typeface="Segoe UI Black" pitchFamily="34" charset="0" panose="020B0A02040204020203"/>
                <a:ea typeface="Segoe UI Black" pitchFamily="34" charset="0" panose="020B0A02040204020203"/>
                <a:cs typeface="Segoe UI Black" pitchFamily="34" charset="0" panose="020B0A02040204020203"/>
              </a:rPr>
              <a:t>Благодарим за ваше внимание!</a:t>
            </a:r>
            <a:endParaRPr lang="en-US" sz="7200">
              <a:solidFill>
                <a:srgbClr val="3D2B13"/>
              </a:solidFill>
              <a:latin typeface="Segoe UI Black" pitchFamily="34" charset="0" panose="020B0A02040204020203"/>
              <a:ea typeface="Segoe UI Black" pitchFamily="34" charset="0" panose="020B0A02040204020203"/>
              <a:cs typeface="Segoe UI Black" pitchFamily="34" charset="0" panose="020B0A02040204020203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66339" y="381330"/>
            <a:ext cx="6327020" cy="6327020"/>
          </a:xfrm>
          <a:prstGeom prst="rect">
            <a:avLst/>
          </a:prstGeom>
        </p:spPr>
      </p:pic>
      <p:sp>
        <p:nvSpPr>
          <p:cNvPr id="4" name="Произв. форма 9"/>
          <p:cNvSpPr/>
          <p:nvPr/>
        </p:nvSpPr>
        <p:spPr>
          <a:xfrm>
            <a:off x="14480" y="-293216"/>
            <a:ext cx="2620845" cy="1447981"/>
          </a:xfrm>
          <a:custGeom>
            <a:avLst/>
            <a:rect l="l" t="t" r="r" b="b"/>
            <a:pathLst>
              <a:path w="2620846" h="1447981">
                <a:moveTo>
                  <a:pt x="0" y="1447981"/>
                </a:moveTo>
                <a:cubicBezTo>
                  <a:pt x="43439" y="1447981"/>
                  <a:pt x="86879" y="1447981"/>
                  <a:pt x="101359" y="1440741"/>
                </a:cubicBezTo>
                <a:cubicBezTo>
                  <a:pt x="115838" y="1433501"/>
                  <a:pt x="144798" y="1433501"/>
                  <a:pt x="159278" y="1426261"/>
                </a:cubicBezTo>
                <a:cubicBezTo>
                  <a:pt x="173758" y="1419021"/>
                  <a:pt x="202717" y="1419021"/>
                  <a:pt x="224437" y="1411781"/>
                </a:cubicBezTo>
                <a:cubicBezTo>
                  <a:pt x="246157" y="1404542"/>
                  <a:pt x="260637" y="1404542"/>
                  <a:pt x="282356" y="1390062"/>
                </a:cubicBezTo>
                <a:cubicBezTo>
                  <a:pt x="304076" y="1375582"/>
                  <a:pt x="318556" y="1375582"/>
                  <a:pt x="340276" y="1368342"/>
                </a:cubicBezTo>
                <a:cubicBezTo>
                  <a:pt x="361995" y="1361102"/>
                  <a:pt x="376475" y="1346622"/>
                  <a:pt x="398195" y="1339382"/>
                </a:cubicBezTo>
                <a:cubicBezTo>
                  <a:pt x="419914" y="1332143"/>
                  <a:pt x="434394" y="1317663"/>
                  <a:pt x="456114" y="1295943"/>
                </a:cubicBezTo>
                <a:cubicBezTo>
                  <a:pt x="477834" y="1274223"/>
                  <a:pt x="506793" y="1259743"/>
                  <a:pt x="535753" y="1238024"/>
                </a:cubicBezTo>
                <a:cubicBezTo>
                  <a:pt x="564713" y="1216304"/>
                  <a:pt x="579192" y="1187344"/>
                  <a:pt x="600912" y="1172865"/>
                </a:cubicBezTo>
                <a:cubicBezTo>
                  <a:pt x="622632" y="1158385"/>
                  <a:pt x="637112" y="1129425"/>
                  <a:pt x="658831" y="1107705"/>
                </a:cubicBezTo>
                <a:cubicBezTo>
                  <a:pt x="680551" y="1085986"/>
                  <a:pt x="695031" y="1071506"/>
                  <a:pt x="723990" y="1042546"/>
                </a:cubicBezTo>
                <a:cubicBezTo>
                  <a:pt x="752950" y="1013587"/>
                  <a:pt x="781910" y="984627"/>
                  <a:pt x="796390" y="962907"/>
                </a:cubicBezTo>
                <a:cubicBezTo>
                  <a:pt x="810869" y="941188"/>
                  <a:pt x="839829" y="897748"/>
                  <a:pt x="861549" y="883268"/>
                </a:cubicBezTo>
                <a:cubicBezTo>
                  <a:pt x="883268" y="868789"/>
                  <a:pt x="897748" y="825349"/>
                  <a:pt x="919468" y="796390"/>
                </a:cubicBezTo>
                <a:cubicBezTo>
                  <a:pt x="941188" y="767430"/>
                  <a:pt x="955667" y="752950"/>
                  <a:pt x="970147" y="731230"/>
                </a:cubicBezTo>
                <a:cubicBezTo>
                  <a:pt x="984627" y="709511"/>
                  <a:pt x="984627" y="695031"/>
                  <a:pt x="999107" y="680551"/>
                </a:cubicBezTo>
                <a:cubicBezTo>
                  <a:pt x="1013587" y="666071"/>
                  <a:pt x="1028067" y="651591"/>
                  <a:pt x="1028067" y="637112"/>
                </a:cubicBezTo>
                <a:cubicBezTo>
                  <a:pt x="1028067" y="622632"/>
                  <a:pt x="1042546" y="622632"/>
                  <a:pt x="1042546" y="608152"/>
                </a:cubicBezTo>
                <a:cubicBezTo>
                  <a:pt x="1042546" y="593672"/>
                  <a:pt x="1042546" y="579192"/>
                  <a:pt x="1042546" y="564713"/>
                </a:cubicBezTo>
                <a:cubicBezTo>
                  <a:pt x="1042546" y="550233"/>
                  <a:pt x="1028067" y="550233"/>
                  <a:pt x="1020827" y="535753"/>
                </a:cubicBezTo>
                <a:cubicBezTo>
                  <a:pt x="1013587" y="521273"/>
                  <a:pt x="1013587" y="506793"/>
                  <a:pt x="999107" y="499553"/>
                </a:cubicBezTo>
                <a:cubicBezTo>
                  <a:pt x="984627" y="492314"/>
                  <a:pt x="970147" y="492314"/>
                  <a:pt x="962907" y="485074"/>
                </a:cubicBezTo>
                <a:cubicBezTo>
                  <a:pt x="955667" y="477834"/>
                  <a:pt x="941188" y="477834"/>
                  <a:pt x="933948" y="470594"/>
                </a:cubicBezTo>
                <a:cubicBezTo>
                  <a:pt x="926708" y="463354"/>
                  <a:pt x="912228" y="463354"/>
                  <a:pt x="897748" y="463354"/>
                </a:cubicBezTo>
                <a:cubicBezTo>
                  <a:pt x="883268" y="463354"/>
                  <a:pt x="854309" y="463354"/>
                  <a:pt x="839829" y="463354"/>
                </a:cubicBezTo>
                <a:cubicBezTo>
                  <a:pt x="825349" y="463354"/>
                  <a:pt x="810869" y="463354"/>
                  <a:pt x="796390" y="470594"/>
                </a:cubicBezTo>
                <a:cubicBezTo>
                  <a:pt x="781910" y="477834"/>
                  <a:pt x="767430" y="477834"/>
                  <a:pt x="752950" y="485074"/>
                </a:cubicBezTo>
                <a:cubicBezTo>
                  <a:pt x="738470" y="492314"/>
                  <a:pt x="738470" y="506793"/>
                  <a:pt x="731230" y="521273"/>
                </a:cubicBezTo>
                <a:cubicBezTo>
                  <a:pt x="723990" y="535753"/>
                  <a:pt x="709511" y="535753"/>
                  <a:pt x="709511" y="557473"/>
                </a:cubicBezTo>
                <a:cubicBezTo>
                  <a:pt x="709511" y="579192"/>
                  <a:pt x="695031" y="579192"/>
                  <a:pt x="687791" y="593672"/>
                </a:cubicBezTo>
                <a:cubicBezTo>
                  <a:pt x="680551" y="608152"/>
                  <a:pt x="680551" y="622632"/>
                  <a:pt x="680551" y="637112"/>
                </a:cubicBezTo>
                <a:cubicBezTo>
                  <a:pt x="680551" y="651591"/>
                  <a:pt x="680551" y="666071"/>
                  <a:pt x="680551" y="680551"/>
                </a:cubicBezTo>
                <a:cubicBezTo>
                  <a:pt x="680551" y="695031"/>
                  <a:pt x="680551" y="709511"/>
                  <a:pt x="687791" y="723991"/>
                </a:cubicBezTo>
                <a:cubicBezTo>
                  <a:pt x="695031" y="738470"/>
                  <a:pt x="695031" y="752950"/>
                  <a:pt x="709511" y="760190"/>
                </a:cubicBezTo>
                <a:cubicBezTo>
                  <a:pt x="723990" y="767430"/>
                  <a:pt x="723990" y="781910"/>
                  <a:pt x="731230" y="789150"/>
                </a:cubicBezTo>
                <a:cubicBezTo>
                  <a:pt x="738470" y="796390"/>
                  <a:pt x="752950" y="796390"/>
                  <a:pt x="760190" y="810869"/>
                </a:cubicBezTo>
                <a:cubicBezTo>
                  <a:pt x="767430" y="825349"/>
                  <a:pt x="796390" y="839829"/>
                  <a:pt x="818109" y="839829"/>
                </a:cubicBezTo>
                <a:cubicBezTo>
                  <a:pt x="839829" y="839829"/>
                  <a:pt x="839829" y="854309"/>
                  <a:pt x="854309" y="854309"/>
                </a:cubicBezTo>
                <a:cubicBezTo>
                  <a:pt x="868789" y="854309"/>
                  <a:pt x="883268" y="868789"/>
                  <a:pt x="897748" y="868789"/>
                </a:cubicBezTo>
                <a:cubicBezTo>
                  <a:pt x="912228" y="868789"/>
                  <a:pt x="926708" y="868789"/>
                  <a:pt x="941188" y="868789"/>
                </a:cubicBezTo>
                <a:cubicBezTo>
                  <a:pt x="955667" y="868789"/>
                  <a:pt x="970147" y="868789"/>
                  <a:pt x="984627" y="868789"/>
                </a:cubicBezTo>
                <a:cubicBezTo>
                  <a:pt x="999107" y="868789"/>
                  <a:pt x="1013587" y="868789"/>
                  <a:pt x="1028066" y="861549"/>
                </a:cubicBezTo>
                <a:cubicBezTo>
                  <a:pt x="1042546" y="854309"/>
                  <a:pt x="1071506" y="854309"/>
                  <a:pt x="1093226" y="854309"/>
                </a:cubicBezTo>
                <a:cubicBezTo>
                  <a:pt x="1114945" y="854309"/>
                  <a:pt x="1129425" y="839829"/>
                  <a:pt x="1143905" y="825349"/>
                </a:cubicBezTo>
                <a:cubicBezTo>
                  <a:pt x="1158385" y="810869"/>
                  <a:pt x="1172865" y="810869"/>
                  <a:pt x="1180104" y="796390"/>
                </a:cubicBezTo>
                <a:cubicBezTo>
                  <a:pt x="1187344" y="781910"/>
                  <a:pt x="1201824" y="781910"/>
                  <a:pt x="1223544" y="774670"/>
                </a:cubicBezTo>
                <a:cubicBezTo>
                  <a:pt x="1245264" y="767430"/>
                  <a:pt x="1259743" y="752950"/>
                  <a:pt x="1281463" y="738470"/>
                </a:cubicBezTo>
                <a:cubicBezTo>
                  <a:pt x="1303183" y="723990"/>
                  <a:pt x="1317663" y="723990"/>
                  <a:pt x="1346622" y="709511"/>
                </a:cubicBezTo>
                <a:cubicBezTo>
                  <a:pt x="1375582" y="695031"/>
                  <a:pt x="1390062" y="680551"/>
                  <a:pt x="1419021" y="666071"/>
                </a:cubicBezTo>
                <a:cubicBezTo>
                  <a:pt x="1447981" y="651591"/>
                  <a:pt x="1462461" y="637112"/>
                  <a:pt x="1491420" y="615392"/>
                </a:cubicBezTo>
                <a:cubicBezTo>
                  <a:pt x="1520380" y="593672"/>
                  <a:pt x="1549340" y="579192"/>
                  <a:pt x="1578299" y="564713"/>
                </a:cubicBezTo>
                <a:cubicBezTo>
                  <a:pt x="1607259" y="550233"/>
                  <a:pt x="1636219" y="535753"/>
                  <a:pt x="1657938" y="514033"/>
                </a:cubicBezTo>
                <a:cubicBezTo>
                  <a:pt x="1679658" y="492314"/>
                  <a:pt x="1708618" y="477834"/>
                  <a:pt x="1737577" y="463354"/>
                </a:cubicBezTo>
                <a:cubicBezTo>
                  <a:pt x="1766537" y="448874"/>
                  <a:pt x="1781017" y="419914"/>
                  <a:pt x="1817216" y="398195"/>
                </a:cubicBezTo>
                <a:cubicBezTo>
                  <a:pt x="1853416" y="376475"/>
                  <a:pt x="1882375" y="361995"/>
                  <a:pt x="1904095" y="347515"/>
                </a:cubicBezTo>
                <a:cubicBezTo>
                  <a:pt x="1925815" y="333036"/>
                  <a:pt x="1954774" y="318556"/>
                  <a:pt x="1983734" y="296836"/>
                </a:cubicBezTo>
                <a:cubicBezTo>
                  <a:pt x="2012694" y="275116"/>
                  <a:pt x="2041653" y="260637"/>
                  <a:pt x="2070613" y="246157"/>
                </a:cubicBezTo>
                <a:cubicBezTo>
                  <a:pt x="2099572" y="231677"/>
                  <a:pt x="2128532" y="217197"/>
                  <a:pt x="2164732" y="202717"/>
                </a:cubicBezTo>
                <a:cubicBezTo>
                  <a:pt x="2200931" y="188238"/>
                  <a:pt x="2244371" y="159278"/>
                  <a:pt x="2280570" y="144798"/>
                </a:cubicBezTo>
                <a:cubicBezTo>
                  <a:pt x="2316770" y="130318"/>
                  <a:pt x="2345729" y="115838"/>
                  <a:pt x="2374689" y="108599"/>
                </a:cubicBezTo>
                <a:cubicBezTo>
                  <a:pt x="2403648" y="101359"/>
                  <a:pt x="2447088" y="86879"/>
                  <a:pt x="2468808" y="72399"/>
                </a:cubicBezTo>
                <a:cubicBezTo>
                  <a:pt x="2490527" y="57919"/>
                  <a:pt x="2519487" y="57919"/>
                  <a:pt x="2541207" y="43439"/>
                </a:cubicBezTo>
                <a:cubicBezTo>
                  <a:pt x="2562927" y="28960"/>
                  <a:pt x="2591886" y="14480"/>
                  <a:pt x="2606366" y="7240"/>
                </a:cubicBezTo>
                <a:cubicBezTo>
                  <a:pt x="2620846" y="0"/>
                  <a:pt x="2620846" y="0"/>
                  <a:pt x="2620846" y="0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оизв. форма 10"/>
          <p:cNvSpPr/>
          <p:nvPr/>
        </p:nvSpPr>
        <p:spPr>
          <a:xfrm>
            <a:off x="9542195" y="4861596"/>
            <a:ext cx="3315876" cy="2099573"/>
          </a:xfrm>
          <a:custGeom>
            <a:avLst/>
            <a:rect l="l" t="t" r="r" b="b"/>
            <a:pathLst>
              <a:path w="3315876" h="2099573">
                <a:moveTo>
                  <a:pt x="0" y="2099573"/>
                </a:moveTo>
                <a:cubicBezTo>
                  <a:pt x="0" y="2012693"/>
                  <a:pt x="0" y="1954774"/>
                  <a:pt x="7240" y="1904095"/>
                </a:cubicBezTo>
                <a:cubicBezTo>
                  <a:pt x="14480" y="1853416"/>
                  <a:pt x="28959" y="1824456"/>
                  <a:pt x="50679" y="1752057"/>
                </a:cubicBezTo>
                <a:cubicBezTo>
                  <a:pt x="72399" y="1679658"/>
                  <a:pt x="72399" y="1650698"/>
                  <a:pt x="86878" y="1614499"/>
                </a:cubicBezTo>
                <a:cubicBezTo>
                  <a:pt x="101358" y="1578299"/>
                  <a:pt x="115838" y="1549340"/>
                  <a:pt x="137558" y="1520380"/>
                </a:cubicBezTo>
                <a:cubicBezTo>
                  <a:pt x="159278" y="1491420"/>
                  <a:pt x="173758" y="1462461"/>
                  <a:pt x="188237" y="1440741"/>
                </a:cubicBezTo>
                <a:cubicBezTo>
                  <a:pt x="202717" y="1419021"/>
                  <a:pt x="202717" y="1404541"/>
                  <a:pt x="224437" y="1382822"/>
                </a:cubicBezTo>
                <a:cubicBezTo>
                  <a:pt x="246156" y="1361102"/>
                  <a:pt x="260636" y="1332142"/>
                  <a:pt x="275116" y="1310423"/>
                </a:cubicBezTo>
                <a:cubicBezTo>
                  <a:pt x="289596" y="1288703"/>
                  <a:pt x="318556" y="1274223"/>
                  <a:pt x="340275" y="1245264"/>
                </a:cubicBezTo>
                <a:cubicBezTo>
                  <a:pt x="361995" y="1216304"/>
                  <a:pt x="405434" y="1187344"/>
                  <a:pt x="434394" y="1172864"/>
                </a:cubicBezTo>
                <a:cubicBezTo>
                  <a:pt x="463354" y="1158385"/>
                  <a:pt x="492313" y="1129425"/>
                  <a:pt x="514033" y="1107705"/>
                </a:cubicBezTo>
                <a:cubicBezTo>
                  <a:pt x="535753" y="1085986"/>
                  <a:pt x="608152" y="1057026"/>
                  <a:pt x="629872" y="1049786"/>
                </a:cubicBezTo>
                <a:cubicBezTo>
                  <a:pt x="651591" y="1042546"/>
                  <a:pt x="695030" y="1028066"/>
                  <a:pt x="723991" y="1013587"/>
                </a:cubicBezTo>
                <a:cubicBezTo>
                  <a:pt x="752950" y="999107"/>
                  <a:pt x="781910" y="984627"/>
                  <a:pt x="810869" y="984627"/>
                </a:cubicBezTo>
                <a:cubicBezTo>
                  <a:pt x="839829" y="984627"/>
                  <a:pt x="883268" y="970147"/>
                  <a:pt x="912227" y="962907"/>
                </a:cubicBezTo>
                <a:cubicBezTo>
                  <a:pt x="941188" y="955667"/>
                  <a:pt x="970147" y="955667"/>
                  <a:pt x="999106" y="948427"/>
                </a:cubicBezTo>
                <a:cubicBezTo>
                  <a:pt x="1028066" y="941188"/>
                  <a:pt x="1071506" y="941188"/>
                  <a:pt x="1107705" y="941188"/>
                </a:cubicBezTo>
                <a:cubicBezTo>
                  <a:pt x="1143905" y="941188"/>
                  <a:pt x="1187344" y="941188"/>
                  <a:pt x="1223543" y="941188"/>
                </a:cubicBezTo>
                <a:cubicBezTo>
                  <a:pt x="1259743" y="941188"/>
                  <a:pt x="1288703" y="926708"/>
                  <a:pt x="1317662" y="926708"/>
                </a:cubicBezTo>
                <a:cubicBezTo>
                  <a:pt x="1346622" y="926708"/>
                  <a:pt x="1390062" y="926708"/>
                  <a:pt x="1419021" y="919468"/>
                </a:cubicBezTo>
                <a:cubicBezTo>
                  <a:pt x="1447981" y="912228"/>
                  <a:pt x="1491420" y="912228"/>
                  <a:pt x="1520379" y="904988"/>
                </a:cubicBezTo>
                <a:cubicBezTo>
                  <a:pt x="1549340" y="897748"/>
                  <a:pt x="1578299" y="883268"/>
                  <a:pt x="1607258" y="876028"/>
                </a:cubicBezTo>
                <a:cubicBezTo>
                  <a:pt x="1636218" y="868788"/>
                  <a:pt x="1679658" y="854309"/>
                  <a:pt x="1715857" y="847069"/>
                </a:cubicBezTo>
                <a:cubicBezTo>
                  <a:pt x="1752057" y="839829"/>
                  <a:pt x="1766536" y="825349"/>
                  <a:pt x="1809976" y="803629"/>
                </a:cubicBezTo>
                <a:cubicBezTo>
                  <a:pt x="1853416" y="781910"/>
                  <a:pt x="1896855" y="767430"/>
                  <a:pt x="1933055" y="731231"/>
                </a:cubicBezTo>
                <a:cubicBezTo>
                  <a:pt x="1969254" y="695031"/>
                  <a:pt x="2027173" y="666071"/>
                  <a:pt x="2070612" y="622632"/>
                </a:cubicBezTo>
                <a:cubicBezTo>
                  <a:pt x="2114052" y="579192"/>
                  <a:pt x="2157492" y="521273"/>
                  <a:pt x="2193691" y="477834"/>
                </a:cubicBezTo>
                <a:cubicBezTo>
                  <a:pt x="2229890" y="434394"/>
                  <a:pt x="2258850" y="405435"/>
                  <a:pt x="2287810" y="361995"/>
                </a:cubicBezTo>
                <a:cubicBezTo>
                  <a:pt x="2316769" y="318556"/>
                  <a:pt x="2331249" y="289596"/>
                  <a:pt x="2338489" y="260637"/>
                </a:cubicBezTo>
                <a:cubicBezTo>
                  <a:pt x="2345729" y="231677"/>
                  <a:pt x="2360209" y="217197"/>
                  <a:pt x="2367449" y="195477"/>
                </a:cubicBezTo>
                <a:cubicBezTo>
                  <a:pt x="2374688" y="173758"/>
                  <a:pt x="2389168" y="159278"/>
                  <a:pt x="2389168" y="144798"/>
                </a:cubicBezTo>
                <a:cubicBezTo>
                  <a:pt x="2389168" y="130318"/>
                  <a:pt x="2389168" y="115838"/>
                  <a:pt x="2389168" y="101359"/>
                </a:cubicBezTo>
                <a:cubicBezTo>
                  <a:pt x="2389168" y="86879"/>
                  <a:pt x="2389168" y="72399"/>
                  <a:pt x="2389168" y="57919"/>
                </a:cubicBezTo>
                <a:cubicBezTo>
                  <a:pt x="2389168" y="43439"/>
                  <a:pt x="2389168" y="28959"/>
                  <a:pt x="2381928" y="14480"/>
                </a:cubicBezTo>
                <a:cubicBezTo>
                  <a:pt x="2374688" y="0"/>
                  <a:pt x="2360209" y="0"/>
                  <a:pt x="2345729" y="0"/>
                </a:cubicBezTo>
                <a:cubicBezTo>
                  <a:pt x="2331249" y="0"/>
                  <a:pt x="2316769" y="0"/>
                  <a:pt x="2295050" y="0"/>
                </a:cubicBezTo>
                <a:cubicBezTo>
                  <a:pt x="2273330" y="0"/>
                  <a:pt x="2244370" y="14480"/>
                  <a:pt x="2229890" y="28959"/>
                </a:cubicBezTo>
                <a:cubicBezTo>
                  <a:pt x="2215411" y="43439"/>
                  <a:pt x="2186451" y="43439"/>
                  <a:pt x="2171971" y="72399"/>
                </a:cubicBezTo>
                <a:cubicBezTo>
                  <a:pt x="2157492" y="101359"/>
                  <a:pt x="2128532" y="130318"/>
                  <a:pt x="2114052" y="159278"/>
                </a:cubicBezTo>
                <a:cubicBezTo>
                  <a:pt x="2099572" y="188237"/>
                  <a:pt x="2085092" y="202717"/>
                  <a:pt x="2070612" y="231677"/>
                </a:cubicBezTo>
                <a:cubicBezTo>
                  <a:pt x="2056133" y="260636"/>
                  <a:pt x="2056133" y="289596"/>
                  <a:pt x="2048893" y="318556"/>
                </a:cubicBezTo>
                <a:cubicBezTo>
                  <a:pt x="2041653" y="347515"/>
                  <a:pt x="2027173" y="361995"/>
                  <a:pt x="2027173" y="390955"/>
                </a:cubicBezTo>
                <a:cubicBezTo>
                  <a:pt x="2027173" y="419914"/>
                  <a:pt x="2027173" y="448874"/>
                  <a:pt x="2027173" y="463354"/>
                </a:cubicBezTo>
                <a:cubicBezTo>
                  <a:pt x="2027173" y="477834"/>
                  <a:pt x="2027173" y="506793"/>
                  <a:pt x="2027173" y="528513"/>
                </a:cubicBezTo>
                <a:cubicBezTo>
                  <a:pt x="2027173" y="550233"/>
                  <a:pt x="2027173" y="564712"/>
                  <a:pt x="2034413" y="586432"/>
                </a:cubicBezTo>
                <a:cubicBezTo>
                  <a:pt x="2041653" y="608152"/>
                  <a:pt x="2041653" y="622632"/>
                  <a:pt x="2063373" y="644351"/>
                </a:cubicBezTo>
                <a:cubicBezTo>
                  <a:pt x="2085092" y="666071"/>
                  <a:pt x="2085092" y="680551"/>
                  <a:pt x="2106812" y="702271"/>
                </a:cubicBezTo>
                <a:cubicBezTo>
                  <a:pt x="2128532" y="723990"/>
                  <a:pt x="2143012" y="738470"/>
                  <a:pt x="2171971" y="760190"/>
                </a:cubicBezTo>
                <a:cubicBezTo>
                  <a:pt x="2200931" y="781910"/>
                  <a:pt x="2229890" y="810869"/>
                  <a:pt x="2251611" y="832589"/>
                </a:cubicBezTo>
                <a:cubicBezTo>
                  <a:pt x="2273330" y="854309"/>
                  <a:pt x="2316769" y="883268"/>
                  <a:pt x="2367449" y="919468"/>
                </a:cubicBezTo>
                <a:cubicBezTo>
                  <a:pt x="2418128" y="955667"/>
                  <a:pt x="2476047" y="999107"/>
                  <a:pt x="2541207" y="1042546"/>
                </a:cubicBezTo>
                <a:cubicBezTo>
                  <a:pt x="2606366" y="1085986"/>
                  <a:pt x="2693244" y="1158385"/>
                  <a:pt x="2794603" y="1230784"/>
                </a:cubicBezTo>
                <a:cubicBezTo>
                  <a:pt x="2895962" y="1303183"/>
                  <a:pt x="2982840" y="1375582"/>
                  <a:pt x="3055239" y="1433501"/>
                </a:cubicBezTo>
                <a:cubicBezTo>
                  <a:pt x="3127639" y="1491420"/>
                  <a:pt x="3171078" y="1534860"/>
                  <a:pt x="3214518" y="1563819"/>
                </a:cubicBezTo>
                <a:cubicBezTo>
                  <a:pt x="3257957" y="1592779"/>
                  <a:pt x="3272437" y="1621739"/>
                  <a:pt x="3294156" y="1650698"/>
                </a:cubicBezTo>
                <a:cubicBezTo>
                  <a:pt x="3315876" y="1679658"/>
                  <a:pt x="3315876" y="1679658"/>
                  <a:pt x="3315876" y="1679658"/>
                </a:cubicBezTo>
              </a:path>
            </a:pathLst>
          </a:custGeom>
          <a:ln w="63500" cap="rnd">
            <a:solidFill>
              <a:srgbClr val="92D050"/>
            </a:solidFill>
            <a:prstDash val="sysDot"/>
            <a:rou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 умолчанию">
  <a:themeElements>
    <a:clrScheme name="Офис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исная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Katerina</dc:creator>
  <cp:lastModifiedBy>Katerina</cp:lastModifiedBy>
  <cp:revision>1</cp:revision>
  <dcterms:created xsi:type="dcterms:W3CDTF">2026-05-21T19:20:12Z</dcterms:created>
  <dcterms:modified xsi:type="dcterms:W3CDTF">2026-05-23T14:17:07Z</dcterms:modified>
</cp:coreProperties>
</file>